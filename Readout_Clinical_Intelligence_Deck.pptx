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645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005840"/>
            <a:ext cx="3474720" cy="347472"/>
          </a:xfrm>
          <a:prstGeom prst="roundRect">
            <a:avLst>
              <a:gd name="adj" fmla="val 50000"/>
            </a:avLst>
          </a:prstGeom>
          <a:solidFill>
            <a:srgbClr val="134E4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DIAGNOSTIC INTELLIGENCE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Translating Diagnostic Reports into Clinical Clarity,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Nutrition, and Empowered Patient-Doctor Conversations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04037"/>
          </a:solidFill>
          <a:ln w="12700">
            <a:solidFill>
              <a:srgbClr val="1E5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389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📄  Multimodal Vision Extraction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camera scan, or portal exports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420624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04037"/>
          </a:solidFill>
          <a:ln w="12700">
            <a:solidFill>
              <a:srgbClr val="1E5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389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🚨  Active Emergency Triage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hospital panic range alerts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420624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04037"/>
          </a:solidFill>
          <a:ln w="12700">
            <a:solidFill>
              <a:srgbClr val="1E5E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4389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🥗  Condition-Linked Diet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4846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Foods to avoid vs. foods that heal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217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the Readout Product &amp; Clinical Engineering Team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 · PART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Diagnostic Data Without Context Drives Patient Panic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portal releases provide raw lab data without clinical interpretation.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Friday Night Portal Trap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Instant Results Without Clinicians: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 health portals push lab numbers to patient phones the minute tests finalize, often over weekends before doctors review them.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Pathologist-First Terminology: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Abbreviations like 'SGPT', 'eGFR', and 'MCH' with bold red asterisks read as alarming disease confirmations.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47548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 Search Engine Spiral: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immediate context, patients turn to Google search, where benign enzyme fluctuations are mistaken for acute organ failure.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5% Statistical Anomaly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intervals are statistically defined to encompass 95% of a healthy population. Therefore, 1 out of 20 completely healthy individuals will test outside reference bounds on any test.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429000"/>
            <a:ext cx="4663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566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50392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adults lack proficient health literacy to accurately interpret standardized laboratory reports without clinical assistance.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75120" y="4389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470916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Mounting patient anxiety, non-urgent emergency room visits, and flood of weekend messages crashing outpatient triage inboxes.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 · PART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Clinicians Face Overwhelmed Patients and Information Gaps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15-minute consultation window is compromised by miscommunication.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BEB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min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Consultation Window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primary care physician appointment is restricted to just 15–18 minutes, covering chronic medications, physical exams, and follow-ups.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EF2F2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min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2651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Wasted on De-escalation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spend roughly half the visit debunking catastrophic internet research rather than counseling patients on diet, exercise, or therapy.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Pre-Analytical Blindspots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32004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70% of unexpected lab deviations stem from unrecorded pre-test factors: a morning breakfast, dehydration, intense workouts, or biotin supplements.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Readout Platform: An Intelligent Diagnostic Companion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opaque diagnostic reports into structured patient agency.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 Ingestion &amp; OCR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upload multi-column PDF lab records, hospital portal exports, or smartphone camera photos of physical papers.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526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Technology: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34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Gemini 2.5 multimodal vision models for high-accuracy parameter and unit extraction.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Clinical Triage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parameters are normalized, compared against clinical panic ranges, and contextualized with patient pre-test states.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526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Technology: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800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34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RAG knowledge base provides physiological rationale without clinical hallucination.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Actionable Patient Agency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292608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an accessible dashboard featuring targeted nutrition, lifestyle levers, and a 1-page printable Doctor Consultation Sheet.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83880" y="43891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45262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Technology: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4800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34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enter the exam room prepared, calm, and equipped with curated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 &amp; INNOVATION ·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Hospital Panic Limit Surveillance &amp; Pre-Analytical Triage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emergency safety protocols paired with pre-test variable reconciliation.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9202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🚨  EMERGENCY PANIC LIMIT SURVEILLANCE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Automated Hospital Panic Cutoffs: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Potassium (K+):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2.8 or &gt; 6.0 mEq/L 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cardiac arrhythmia 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611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Platelets: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50,000 / µL 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Spontaneous hemorrhage 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Serum Glucose: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or &gt; 400 mg/dL 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Diabetic ketoacidosis / Coma risk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Hemoglobin (Hb):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7.0 g/dL —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tissue hypoxia / Transfusion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 advise immediate same-day medical contact when genuine clinical danger exists, distinguishing physiological emergencies from benign deviations.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Pre-Analytical Contextualizer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3774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toggle their real-life conditions to account for biological artifacts: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292608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971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✔  Fasting vs. Non-Fasting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12280" y="3218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postprandial triglyceride and glucose elevations.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70332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7490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✔  Biotin Supplementation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3995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Discloses immuno-assay interference falsely elevating free T4 or lowering TSH.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448056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526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✔  Strenuous Physical Exercise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47731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transient elevations in AST and Creatine Kinase (CK) from muscle breakdown.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92240" y="525780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3035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✔  Hydration 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5550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for hemoconcentration causing mild elevations in hematocrit and albumin.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 &amp; INNOVATION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 Nutrition: Foods to Avoid vs. Foods that Heal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to patient-reported conditions (BP, Diabetes, Cholesterol, Liver, Uric Acid, Kidney).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 Clinical Profiles:  🫀 High BP    🩸 Sugar / Diabetes    🫀 Cholesterol    🫁 Fatty Liver    🦶 Uric Acid / Gout    🫘 Kidney Health    🦋 Thyroid    🔥 GERD / Reflux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512064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🚫  FOODS TO STRICTLY AVOID / LIMIT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Sodium-Dense Brines &amp; Cured Meats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Expands vascular fluid volume; elevates systolic BP.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Liquid Fructose &amp; Refined Starches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Drives de novo lipogenesis; spikes intrahepatic fat &amp; HbA1c.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Industrial Trans Fats &amp; Vanaspati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Suppresses protective HDL while increasing atherogenic small dense LDL.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Purine-Dense Offal &amp; Beer Yeast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Directly degrades into serum uric acid; precipitates gout attacks.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40280"/>
            <a:ext cx="521208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23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🌿  FOODS THAT HEAL &amp; SUPPORT RECOVERY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834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Beetroots &amp; Leafy Nitrate Greens
</a:t>
            </a:r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Boosts endothelial nitric oxide (NO), relaxing arterial tone.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Viscous Beta-Glucan (Oats &amp; Barley)
</a:t>
            </a:r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Binds bile acids in the gut; draws circulating LDL from blood.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Sulforaphane in Cruciferous Veggies
</a:t>
            </a:r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Activates Nrf2; reduces hepatic steatosis and insulin resistance.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3035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Tart Montmorency Cherries
</a:t>
            </a:r>
            <a:pPr indent="0" marL="0"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Mechanism: Inhibits xanthine oxidase, accelerating renal urate excretion.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FEATURE &amp; INNOVATION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1-Page Doctor Consultation Brief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diagnostic anxiety into structured, high-value clinical dialogue.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 CLINICAL CONSULTATION SHEET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Patient: Jane Doe · Fasting: Yes · Meds: Metformin 500mg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45720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4320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Biomarkers for Review: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HbA1c: 6.2% (Pre-diabetic threshold, ADA range 4.0–5.6%)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ALT (SGPT): 48 U/L (Mild hepatocellular elevation, range &lt; 35)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LDL Cholesterol: 142 mg/dL (Atherogenic target &lt; 100)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Prepared Questions for Doctor: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'Should we repeat my ALT in 8 weeks after stopping supplements?'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'Is my HbA1c elevation primarily fasting or postprandial?'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Value to Clinical Encounters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Reclaims the 15-Minute Exam Window: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immediately see the patient's verified fasting status, current supplements, and primary questions without 10 minutes of intake friction.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Curated Question Generator: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ambiguous anxiety into specific, clinically grounded questions vetted by medical guidelines.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Multilingual Health Equity: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translates reports into Spanish, Hindi, or Bengali while preserving universal medical codes (HbA1c, TSH, ALT) so immigrant patients can advocate for themselves.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5166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One-Click PDF Export &amp; Print: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high-contrast monochrome printing designed specifically for clinical clipboard presentation.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TECHNOLOGY &amp;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Modern, Privacy-Preserving Full-Stack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deterministic, and optimized for speed and clinical reliability.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💻  Frontend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37744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Vanilla TypeScript · HTML5 · CSS Variables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Zero-bloat client architecture running at 60 FPS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D3.js dynamic distribution curve visualizers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Responsive mobile-first patient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i18n localization engine (EN, ES, HI, BN)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⚙️  API &amp; Backend Gateway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237744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(ESM) · Express · Multer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Single-command local deployment (`npm start`)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FastAPI Python service ready for local PyTorch/OCR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Interactive Swagger / OpenAPI 3.0 documentation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Multer file-streaming pipeline with strict MIME filters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🧠  AI &amp; Clinical Engine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83880" y="2377440"/>
            <a:ext cx="292608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377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@google/genai SDK · Gemini 2.5 · Local RAG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83880" y="3017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Gemini 2.5 Flash multimodal document OCR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37947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Deterministic fallback knowledge base (works offline)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45720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Strict JSON schema extraction with confidence scoring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53492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Zero diagnostic hallucination safety guardrails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IMPACT &amp; VALUE PROPOSITION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Tri-Partite Stakeholder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tangible clinical, human, and economic value across healthcare.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Clinical Intelligence · Confidential &amp; Proprietary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F0FDFA"/>
          </a:solidFill>
          <a:ln w="19050">
            <a:solidFill>
              <a:srgbClr val="CCFB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PATIENTS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90% Panic Reduction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Replaces panic with structured health literacy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Clear daily dietary swaps (foods to avoid vs. heal)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Dignified agency in discussing their own body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CLINICIANS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+35% Exam Efficiency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Eliminates 8 minutes of internet de-escalation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39319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Surfaces pre-test variables (fasting, supplements)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846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Enables shared decision-making for care plans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1645920"/>
            <a:ext cx="3383280" cy="4480560"/>
          </a:xfrm>
          <a:prstGeom prst="roundRect">
            <a:avLst>
              <a:gd name="adj" fmla="val 4054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HEALTH SYSTEMS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22402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-22% Triage Volume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2960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Reduces non-urgent weekend ER &amp; urgent-care visits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39319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Prevents duplicate repeat blood testing orders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Lowers long-term chronic disease readmission rates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SCOPE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Future of Longitudinal Health Intelligence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134E4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1 (CURRENT)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Point-in-Time Lab 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OCR, panic triage, personalized nutrition, and 1-page doctor consultation sheets.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134E4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57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(Q3 2026)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1188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Longitudinal Trajectory Mapping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Multi-report delta graphing tracking velocity of change across 6, 12, and 24-month periods.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134E4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57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3 (Q4 2026)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Continuous Biosensor Fusion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Cross-referencing annual blood panels with wearable sensor data (CGMs, resting HR, Apple Health, Oura).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828800"/>
            <a:ext cx="2514600" cy="3931920"/>
          </a:xfrm>
          <a:prstGeom prst="roundRect">
            <a:avLst>
              <a:gd name="adj" fmla="val 4364"/>
            </a:avLst>
          </a:prstGeom>
          <a:solidFill>
            <a:srgbClr val="134E4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057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4 (2027)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00684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SMART-on-FHIR EHR 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684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bi-directional synchronization with Epic MyChart and Cerner clinical systems.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Readout: Clear Results · Prepared Patients · Better Healthcare Conversations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Readout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Readout — Clinical Lab Report Intelligence</dc:title>
  <dc:subject>PptxGenJS Presentation</dc:subject>
  <dc:creator>Readout Medical Intelligence Team</dc:creator>
  <cp:lastModifiedBy>Readout Medical Intelligence Team</cp:lastModifiedBy>
  <cp:revision>1</cp:revision>
  <dcterms:created xsi:type="dcterms:W3CDTF">2026-09-18T02:22:27Z</dcterms:created>
  <dcterms:modified xsi:type="dcterms:W3CDTF">2026-09-18T02:22:27Z</dcterms:modified>
</cp:coreProperties>
</file>